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Canva Sans" charset="1" panose="020B0503030501040103"/>
      <p:regular r:id="rId15"/>
    </p:embeddedFont>
    <p:embeddedFont>
      <p:font typeface="Canva Sans Bold" charset="1" panose="020B0803030501040103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7701" y="7141529"/>
            <a:ext cx="18817070" cy="3376610"/>
          </a:xfrm>
          <a:custGeom>
            <a:avLst/>
            <a:gdLst/>
            <a:ahLst/>
            <a:cxnLst/>
            <a:rect r="r" b="b" t="t" l="l"/>
            <a:pathLst>
              <a:path h="3376610" w="18817070">
                <a:moveTo>
                  <a:pt x="0" y="0"/>
                </a:moveTo>
                <a:lnTo>
                  <a:pt x="18817070" y="0"/>
                </a:lnTo>
                <a:lnTo>
                  <a:pt x="18817070" y="3376610"/>
                </a:lnTo>
                <a:lnTo>
                  <a:pt x="0" y="3376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951" t="0" r="-15027" b="-3609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92690" y="0"/>
            <a:ext cx="4995310" cy="10287000"/>
            <a:chOff x="0" y="0"/>
            <a:chExt cx="1315637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563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15637">
                  <a:moveTo>
                    <a:pt x="0" y="0"/>
                  </a:moveTo>
                  <a:lnTo>
                    <a:pt x="1315637" y="0"/>
                  </a:lnTo>
                  <a:lnTo>
                    <a:pt x="131563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43BDFE">
                    <a:alpha val="100000"/>
                  </a:srgbClr>
                </a:gs>
                <a:gs pos="100000">
                  <a:srgbClr val="00208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1563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089110" y="626954"/>
            <a:ext cx="53728" cy="537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7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673111" y="2894179"/>
            <a:ext cx="797229" cy="0"/>
          </a:xfrm>
          <a:prstGeom prst="line">
            <a:avLst/>
          </a:prstGeom>
          <a:ln cap="flat" w="190500">
            <a:solidFill>
              <a:srgbClr val="00208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2640890" y="2894179"/>
            <a:ext cx="797229" cy="0"/>
          </a:xfrm>
          <a:prstGeom prst="line">
            <a:avLst/>
          </a:prstGeom>
          <a:ln cap="flat" w="190500">
            <a:solidFill>
              <a:srgbClr val="43BD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1273339" y="0"/>
            <a:ext cx="7014661" cy="10287000"/>
          </a:xfrm>
          <a:custGeom>
            <a:avLst/>
            <a:gdLst/>
            <a:ahLst/>
            <a:cxnLst/>
            <a:rect r="r" b="b" t="t" l="l"/>
            <a:pathLst>
              <a:path h="10287000" w="7014661">
                <a:moveTo>
                  <a:pt x="0" y="0"/>
                </a:moveTo>
                <a:lnTo>
                  <a:pt x="7014661" y="0"/>
                </a:lnTo>
                <a:lnTo>
                  <a:pt x="701466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583" t="0" r="-3536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0" y="3055997"/>
            <a:ext cx="13292690" cy="163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71"/>
              </a:lnSpc>
            </a:pPr>
            <a:r>
              <a:rPr lang="en-US" sz="11222" spc="-269" b="true">
                <a:solidFill>
                  <a:srgbClr val="002085"/>
                </a:solidFill>
                <a:latin typeface="Poppins Bold"/>
                <a:ea typeface="Poppins Bold"/>
                <a:cs typeface="Poppins Bold"/>
                <a:sym typeface="Poppins Bold"/>
              </a:rPr>
              <a:t>Heart  Disease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4518595"/>
            <a:ext cx="11867774" cy="277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1"/>
              </a:lnSpc>
            </a:pPr>
            <a:r>
              <a:rPr lang="en-US" sz="10001" spc="-240" b="true">
                <a:solidFill>
                  <a:srgbClr val="002085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Prediction  Using Machine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5171" y="7440266"/>
            <a:ext cx="8139949" cy="39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  <a:spcBef>
                <a:spcPct val="0"/>
              </a:spcBef>
            </a:pPr>
            <a:r>
              <a:rPr lang="en-US" sz="2410">
                <a:solidFill>
                  <a:srgbClr val="002085"/>
                </a:solidFill>
                <a:latin typeface="Canva Sans"/>
                <a:ea typeface="Canva Sans"/>
                <a:cs typeface="Canva Sans"/>
                <a:sym typeface="Canva Sans"/>
              </a:rPr>
              <a:t>Early Detection and Risk Assessment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475301" y="7293929"/>
            <a:ext cx="18817070" cy="3376610"/>
          </a:xfrm>
          <a:custGeom>
            <a:avLst/>
            <a:gdLst/>
            <a:ahLst/>
            <a:cxnLst/>
            <a:rect r="r" b="b" t="t" l="l"/>
            <a:pathLst>
              <a:path h="3376610" w="18817070">
                <a:moveTo>
                  <a:pt x="0" y="0"/>
                </a:moveTo>
                <a:lnTo>
                  <a:pt x="18817070" y="0"/>
                </a:lnTo>
                <a:lnTo>
                  <a:pt x="18817070" y="3376610"/>
                </a:lnTo>
                <a:lnTo>
                  <a:pt x="0" y="3376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951" t="0" r="-15027" b="-360943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036566"/>
            <a:ext cx="18817070" cy="3376610"/>
          </a:xfrm>
          <a:custGeom>
            <a:avLst/>
            <a:gdLst/>
            <a:ahLst/>
            <a:cxnLst/>
            <a:rect r="r" b="b" t="t" l="l"/>
            <a:pathLst>
              <a:path h="3376610" w="18817070">
                <a:moveTo>
                  <a:pt x="0" y="0"/>
                </a:moveTo>
                <a:lnTo>
                  <a:pt x="18817070" y="0"/>
                </a:lnTo>
                <a:lnTo>
                  <a:pt x="18817070" y="3376610"/>
                </a:lnTo>
                <a:lnTo>
                  <a:pt x="0" y="3376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951" t="0" r="-15027" b="-3609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80133" y="8724871"/>
            <a:ext cx="1622067" cy="1996390"/>
            <a:chOff x="0" y="0"/>
            <a:chExt cx="6604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43BD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479069" y="9050493"/>
            <a:ext cx="1256891" cy="1546943"/>
            <a:chOff x="0" y="0"/>
            <a:chExt cx="6604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43BDF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89110" y="626954"/>
            <a:ext cx="53728" cy="5372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7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-659493" y="1731004"/>
            <a:ext cx="16639626" cy="8555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050245" indent="-525123" lvl="1">
              <a:lnSpc>
                <a:spcPts val="6810"/>
              </a:lnSpc>
              <a:buFont typeface="Arial"/>
              <a:buChar char="•"/>
            </a:pPr>
            <a:r>
              <a:rPr lang="en-US" sz="4864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Heart disease is a leading cause of death </a:t>
            </a:r>
          </a:p>
          <a:p>
            <a:pPr algn="ctr">
              <a:lnSpc>
                <a:spcPts val="6810"/>
              </a:lnSpc>
            </a:pPr>
            <a:r>
              <a:rPr lang="en-US" sz="4864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worldwide.</a:t>
            </a:r>
          </a:p>
          <a:p>
            <a:pPr algn="ctr" marL="1050245" indent="-525123" lvl="1">
              <a:lnSpc>
                <a:spcPts val="6810"/>
              </a:lnSpc>
              <a:buFont typeface="Arial"/>
              <a:buChar char="•"/>
            </a:pPr>
            <a:r>
              <a:rPr lang="en-US" sz="4864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Early prediction can save lives and reduce medical costs.</a:t>
            </a:r>
          </a:p>
          <a:p>
            <a:pPr algn="ctr" marL="1050245" indent="-525123" lvl="1">
              <a:lnSpc>
                <a:spcPts val="6810"/>
              </a:lnSpc>
              <a:buFont typeface="Arial"/>
              <a:buChar char="•"/>
            </a:pPr>
            <a:r>
              <a:rPr lang="en-US" sz="4864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  Combines healthcare and AI/ML for practical problem-solving.</a:t>
            </a:r>
          </a:p>
          <a:p>
            <a:pPr algn="ctr" marL="1050245" indent="-525123" lvl="1">
              <a:lnSpc>
                <a:spcPts val="6810"/>
              </a:lnSpc>
              <a:buFont typeface="Arial"/>
              <a:buChar char="•"/>
            </a:pPr>
            <a:r>
              <a:rPr lang="en-US" sz="4864">
                <a:solidFill>
                  <a:srgbClr val="2B2B2B"/>
                </a:solidFill>
                <a:latin typeface="Canva Sans"/>
                <a:ea typeface="Canva Sans"/>
                <a:cs typeface="Canva Sans"/>
                <a:sym typeface="Canva Sans"/>
              </a:rPr>
              <a:t>Opportunity to assist doctors with data-driven insights.</a:t>
            </a:r>
          </a:p>
          <a:p>
            <a:pPr algn="ctr">
              <a:lnSpc>
                <a:spcPts val="6810"/>
              </a:lnSpc>
            </a:pPr>
          </a:p>
          <a:p>
            <a:pPr algn="ctr">
              <a:lnSpc>
                <a:spcPts val="681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50604" y="178464"/>
            <a:ext cx="10966095" cy="1153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409"/>
              </a:lnSpc>
              <a:spcBef>
                <a:spcPct val="0"/>
              </a:spcBef>
            </a:pPr>
            <a:r>
              <a:rPr lang="en-US" b="true" sz="6720" strike="noStrike" u="none">
                <a:solidFill>
                  <a:srgbClr val="1F3A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 Chose This Project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1678" y="7119019"/>
            <a:ext cx="18817070" cy="3376610"/>
          </a:xfrm>
          <a:custGeom>
            <a:avLst/>
            <a:gdLst/>
            <a:ahLst/>
            <a:cxnLst/>
            <a:rect r="r" b="b" t="t" l="l"/>
            <a:pathLst>
              <a:path h="3376610" w="18817070">
                <a:moveTo>
                  <a:pt x="0" y="0"/>
                </a:moveTo>
                <a:lnTo>
                  <a:pt x="18817070" y="0"/>
                </a:lnTo>
                <a:lnTo>
                  <a:pt x="18817070" y="3376610"/>
                </a:lnTo>
                <a:lnTo>
                  <a:pt x="0" y="3376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951" t="0" r="-15027" b="-3609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7277100"/>
            <a:ext cx="4823860" cy="3009900"/>
            <a:chOff x="0" y="0"/>
            <a:chExt cx="1270482" cy="7927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70482" cy="792731"/>
            </a:xfrm>
            <a:custGeom>
              <a:avLst/>
              <a:gdLst/>
              <a:ahLst/>
              <a:cxnLst/>
              <a:rect r="r" b="b" t="t" l="l"/>
              <a:pathLst>
                <a:path h="792731" w="1270482">
                  <a:moveTo>
                    <a:pt x="0" y="0"/>
                  </a:moveTo>
                  <a:lnTo>
                    <a:pt x="1270482" y="0"/>
                  </a:lnTo>
                  <a:lnTo>
                    <a:pt x="1270482" y="792731"/>
                  </a:lnTo>
                  <a:lnTo>
                    <a:pt x="0" y="792731"/>
                  </a:lnTo>
                  <a:close/>
                </a:path>
              </a:pathLst>
            </a:custGeom>
            <a:solidFill>
              <a:srgbClr val="43BD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270482" cy="830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464140" y="7277100"/>
            <a:ext cx="4823860" cy="3009900"/>
            <a:chOff x="0" y="0"/>
            <a:chExt cx="1270482" cy="7927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0482" cy="792731"/>
            </a:xfrm>
            <a:custGeom>
              <a:avLst/>
              <a:gdLst/>
              <a:ahLst/>
              <a:cxnLst/>
              <a:rect r="r" b="b" t="t" l="l"/>
              <a:pathLst>
                <a:path h="792731" w="1270482">
                  <a:moveTo>
                    <a:pt x="0" y="0"/>
                  </a:moveTo>
                  <a:lnTo>
                    <a:pt x="1270482" y="0"/>
                  </a:lnTo>
                  <a:lnTo>
                    <a:pt x="1270482" y="792731"/>
                  </a:lnTo>
                  <a:lnTo>
                    <a:pt x="0" y="792731"/>
                  </a:lnTo>
                  <a:close/>
                </a:path>
              </a:pathLst>
            </a:custGeom>
            <a:solidFill>
              <a:srgbClr val="43BDF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70482" cy="830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89110" y="626954"/>
            <a:ext cx="53728" cy="5372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7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80059" y="348018"/>
            <a:ext cx="9087602" cy="978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5"/>
              </a:lnSpc>
            </a:pPr>
            <a:r>
              <a:rPr lang="en-US" sz="5899" b="true">
                <a:solidFill>
                  <a:srgbClr val="002085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Description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1668571"/>
            <a:ext cx="18758493" cy="517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99427" indent="-399713" lvl="1">
              <a:lnSpc>
                <a:spcPts val="5183"/>
              </a:lnSpc>
              <a:buFont typeface="Arial"/>
              <a:buChar char="•"/>
            </a:pPr>
            <a:r>
              <a:rPr lang="en-US" sz="3702">
                <a:solidFill>
                  <a:srgbClr val="002085"/>
                </a:solidFill>
                <a:latin typeface="Canva Sans"/>
                <a:ea typeface="Canva Sans"/>
                <a:cs typeface="Canva Sans"/>
                <a:sym typeface="Canva Sans"/>
              </a:rPr>
              <a:t>Objective: Predict the likelihood of heart disease in patients.</a:t>
            </a:r>
          </a:p>
          <a:p>
            <a:pPr algn="ctr" marL="799427" indent="-399713" lvl="1">
              <a:lnSpc>
                <a:spcPts val="5183"/>
              </a:lnSpc>
              <a:buFont typeface="Arial"/>
              <a:buChar char="•"/>
            </a:pPr>
            <a:r>
              <a:rPr lang="en-US" sz="3702">
                <a:solidFill>
                  <a:srgbClr val="002085"/>
                </a:solidFill>
                <a:latin typeface="Canva Sans"/>
                <a:ea typeface="Canva Sans"/>
                <a:cs typeface="Canva Sans"/>
                <a:sym typeface="Canva Sans"/>
              </a:rPr>
              <a:t>Dataset: Patient data from Kaggle (age, cholesterol, blood pressure, etc.)</a:t>
            </a:r>
          </a:p>
          <a:p>
            <a:pPr algn="ctr" marL="799427" indent="-399713" lvl="1">
              <a:lnSpc>
                <a:spcPts val="5183"/>
              </a:lnSpc>
              <a:buFont typeface="Arial"/>
              <a:buChar char="•"/>
            </a:pPr>
            <a:r>
              <a:rPr lang="en-US" sz="3702">
                <a:solidFill>
                  <a:srgbClr val="002085"/>
                </a:solidFill>
                <a:latin typeface="Canva Sans"/>
                <a:ea typeface="Canva Sans"/>
                <a:cs typeface="Canva Sans"/>
                <a:sym typeface="Canva Sans"/>
              </a:rPr>
              <a:t>Methodology:</a:t>
            </a:r>
          </a:p>
          <a:p>
            <a:pPr algn="ctr" marL="799427" indent="-399713" lvl="1">
              <a:lnSpc>
                <a:spcPts val="5183"/>
              </a:lnSpc>
              <a:buAutoNum type="arabicPeriod" startAt="1"/>
            </a:pPr>
            <a:r>
              <a:rPr lang="en-US" sz="3702">
                <a:solidFill>
                  <a:srgbClr val="002085"/>
                </a:solidFill>
                <a:latin typeface="Canva Sans"/>
                <a:ea typeface="Canva Sans"/>
                <a:cs typeface="Canva Sans"/>
                <a:sym typeface="Canva Sans"/>
              </a:rPr>
              <a:t>Data Preprocessing (cleaning, encoding, scaling)</a:t>
            </a:r>
          </a:p>
          <a:p>
            <a:pPr algn="ctr" marL="799427" indent="-399713" lvl="1">
              <a:lnSpc>
                <a:spcPts val="5183"/>
              </a:lnSpc>
              <a:buAutoNum type="arabicPeriod" startAt="1"/>
            </a:pPr>
            <a:r>
              <a:rPr lang="en-US" sz="3702">
                <a:solidFill>
                  <a:srgbClr val="002085"/>
                </a:solidFill>
                <a:latin typeface="Canva Sans"/>
                <a:ea typeface="Canva Sans"/>
                <a:cs typeface="Canva Sans"/>
                <a:sym typeface="Canva Sans"/>
              </a:rPr>
              <a:t>Model training: Logistic Regression,SVM,Desicion Tree,Random Forest,KNN</a:t>
            </a:r>
          </a:p>
          <a:p>
            <a:pPr algn="ctr" marL="799427" indent="-399713" lvl="1">
              <a:lnSpc>
                <a:spcPts val="5183"/>
              </a:lnSpc>
              <a:buAutoNum type="arabicPeriod" startAt="1"/>
            </a:pPr>
            <a:r>
              <a:rPr lang="en-US" sz="3702">
                <a:solidFill>
                  <a:srgbClr val="002085"/>
                </a:solidFill>
                <a:latin typeface="Canva Sans"/>
                <a:ea typeface="Canva Sans"/>
                <a:cs typeface="Canva Sans"/>
                <a:sym typeface="Canva Sans"/>
              </a:rPr>
              <a:t>Model evaluation: Accuracy Score</a:t>
            </a:r>
          </a:p>
          <a:p>
            <a:pPr algn="ctr" marL="799427" indent="-399713" lvl="1">
              <a:lnSpc>
                <a:spcPts val="5183"/>
              </a:lnSpc>
              <a:buFont typeface="Arial"/>
              <a:buChar char="•"/>
            </a:pPr>
            <a:r>
              <a:rPr lang="en-US" sz="3702">
                <a:solidFill>
                  <a:srgbClr val="002085"/>
                </a:solidFill>
                <a:latin typeface="Canva Sans"/>
                <a:ea typeface="Canva Sans"/>
                <a:cs typeface="Canva Sans"/>
                <a:sym typeface="Canva Sans"/>
              </a:rPr>
              <a:t>Prediction Output: Heart Disease → Yes or No</a:t>
            </a:r>
          </a:p>
          <a:p>
            <a:pPr algn="ctr">
              <a:lnSpc>
                <a:spcPts val="518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9829" y="1485663"/>
            <a:ext cx="15548343" cy="8575020"/>
          </a:xfrm>
          <a:custGeom>
            <a:avLst/>
            <a:gdLst/>
            <a:ahLst/>
            <a:cxnLst/>
            <a:rect r="r" b="b" t="t" l="l"/>
            <a:pathLst>
              <a:path h="8575020" w="15548343">
                <a:moveTo>
                  <a:pt x="0" y="0"/>
                </a:moveTo>
                <a:lnTo>
                  <a:pt x="15548342" y="0"/>
                </a:lnTo>
                <a:lnTo>
                  <a:pt x="15548342" y="8575019"/>
                </a:lnTo>
                <a:lnTo>
                  <a:pt x="0" y="8575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71" r="0" b="-967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1265814" y="24023"/>
            <a:ext cx="13894598" cy="1004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b="true" sz="5799">
                <a:solidFill>
                  <a:srgbClr val="33396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workflow of  Machine   Learning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62371" y="750465"/>
            <a:ext cx="13928547" cy="9536535"/>
          </a:xfrm>
          <a:custGeom>
            <a:avLst/>
            <a:gdLst/>
            <a:ahLst/>
            <a:cxnLst/>
            <a:rect r="r" b="b" t="t" l="l"/>
            <a:pathLst>
              <a:path h="9536535" w="13928547">
                <a:moveTo>
                  <a:pt x="0" y="0"/>
                </a:moveTo>
                <a:lnTo>
                  <a:pt x="13928547" y="0"/>
                </a:lnTo>
                <a:lnTo>
                  <a:pt x="13928547" y="9536535"/>
                </a:lnTo>
                <a:lnTo>
                  <a:pt x="0" y="9536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26" r="-2268" b="-162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653831" y="-104775"/>
            <a:ext cx="8036819" cy="855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5"/>
              </a:lnSpc>
              <a:spcBef>
                <a:spcPct val="0"/>
              </a:spcBef>
            </a:pPr>
            <a:r>
              <a:rPr lang="en-US" b="true" sz="4954">
                <a:solidFill>
                  <a:srgbClr val="1F3A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9169" y="265871"/>
            <a:ext cx="15100137" cy="10040373"/>
          </a:xfrm>
          <a:custGeom>
            <a:avLst/>
            <a:gdLst/>
            <a:ahLst/>
            <a:cxnLst/>
            <a:rect r="r" b="b" t="t" l="l"/>
            <a:pathLst>
              <a:path h="10040373" w="15100137">
                <a:moveTo>
                  <a:pt x="0" y="0"/>
                </a:moveTo>
                <a:lnTo>
                  <a:pt x="15100137" y="0"/>
                </a:lnTo>
                <a:lnTo>
                  <a:pt x="15100137" y="10040373"/>
                </a:lnTo>
                <a:lnTo>
                  <a:pt x="0" y="100403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45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39238" y="4962842"/>
            <a:ext cx="952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1678" y="7119019"/>
            <a:ext cx="18817070" cy="3376610"/>
          </a:xfrm>
          <a:custGeom>
            <a:avLst/>
            <a:gdLst/>
            <a:ahLst/>
            <a:cxnLst/>
            <a:rect r="r" b="b" t="t" l="l"/>
            <a:pathLst>
              <a:path h="3376610" w="18817070">
                <a:moveTo>
                  <a:pt x="0" y="0"/>
                </a:moveTo>
                <a:lnTo>
                  <a:pt x="18817070" y="0"/>
                </a:lnTo>
                <a:lnTo>
                  <a:pt x="18817070" y="3376610"/>
                </a:lnTo>
                <a:lnTo>
                  <a:pt x="0" y="3376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951" t="0" r="-15027" b="-3609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80133" y="8724871"/>
            <a:ext cx="1622067" cy="1996390"/>
            <a:chOff x="0" y="0"/>
            <a:chExt cx="6604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43BD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479069" y="9050493"/>
            <a:ext cx="1256891" cy="1546943"/>
            <a:chOff x="0" y="0"/>
            <a:chExt cx="6604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28502"/>
                  </a:cubicBezTo>
                  <a:lnTo>
                    <a:pt x="660400" y="812800"/>
                  </a:lnTo>
                  <a:lnTo>
                    <a:pt x="0" y="812800"/>
                  </a:lnTo>
                  <a:lnTo>
                    <a:pt x="0" y="328861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43BDF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89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89110" y="626954"/>
            <a:ext cx="53728" cy="5372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7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-247650" y="1377073"/>
            <a:ext cx="12360063" cy="7881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6960" indent="-413480" lvl="1">
              <a:lnSpc>
                <a:spcPts val="6281"/>
              </a:lnSpc>
              <a:buFont typeface="Arial"/>
              <a:buChar char="•"/>
            </a:pPr>
            <a:r>
              <a:rPr lang="en-US" sz="383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Multiple machine learning models predict high-risk heart disease patients effectively.</a:t>
            </a:r>
          </a:p>
          <a:p>
            <a:pPr algn="just" marL="826960" indent="-413480" lvl="1">
              <a:lnSpc>
                <a:spcPts val="6281"/>
              </a:lnSpc>
              <a:buFont typeface="Arial"/>
              <a:buChar char="•"/>
            </a:pPr>
            <a:r>
              <a:rPr lang="en-US" sz="383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Accuracy scores show each model’s performance for comparison.</a:t>
            </a:r>
          </a:p>
          <a:p>
            <a:pPr algn="just" marL="826960" indent="-413480" lvl="1">
              <a:lnSpc>
                <a:spcPts val="6281"/>
              </a:lnSpc>
              <a:buFont typeface="Arial"/>
              <a:buChar char="•"/>
            </a:pPr>
            <a:r>
              <a:rPr lang="en-US" sz="383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Helps doctors make informed decisions quickly.</a:t>
            </a:r>
          </a:p>
          <a:p>
            <a:pPr algn="just" marL="826960" indent="-413480" lvl="1">
              <a:lnSpc>
                <a:spcPts val="6281"/>
              </a:lnSpc>
              <a:buFont typeface="Arial"/>
              <a:buChar char="•"/>
            </a:pPr>
            <a:r>
              <a:rPr lang="en-US" sz="3830">
                <a:solidFill>
                  <a:srgbClr val="2B2B2B"/>
                </a:solidFill>
                <a:latin typeface="Poppins"/>
                <a:ea typeface="Poppins"/>
                <a:cs typeface="Poppins"/>
                <a:sym typeface="Poppins"/>
              </a:rPr>
              <a:t>Reduces unnecessary tests and optimizes healthcare resources.</a:t>
            </a:r>
          </a:p>
          <a:p>
            <a:pPr algn="just">
              <a:lnSpc>
                <a:spcPts val="6281"/>
              </a:lnSpc>
            </a:pPr>
          </a:p>
          <a:p>
            <a:pPr algn="just">
              <a:lnSpc>
                <a:spcPts val="628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-5613282" y="195296"/>
            <a:ext cx="20404560" cy="98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6"/>
              </a:lnSpc>
              <a:spcBef>
                <a:spcPct val="0"/>
              </a:spcBef>
            </a:pPr>
            <a:r>
              <a:rPr lang="en-US" b="true" sz="5826">
                <a:solidFill>
                  <a:srgbClr val="1F3A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&amp; Impact</a:t>
            </a:r>
          </a:p>
        </p:txBody>
      </p:sp>
      <p:grpSp>
        <p:nvGrpSpPr>
          <p:cNvPr name="Group 14" id="14"/>
          <p:cNvGrpSpPr/>
          <p:nvPr/>
        </p:nvGrpSpPr>
        <p:grpSpPr>
          <a:xfrm rot="-5400000">
            <a:off x="10918481" y="2055707"/>
            <a:ext cx="8563451" cy="6175587"/>
            <a:chOff x="0" y="0"/>
            <a:chExt cx="660400" cy="476252"/>
          </a:xfrm>
        </p:grpSpPr>
        <p:sp>
          <p:nvSpPr>
            <p:cNvPr name="Freeform 15" id="15"/>
            <p:cNvSpPr/>
            <p:nvPr/>
          </p:nvSpPr>
          <p:spPr>
            <a:xfrm flipH="false" flipV="false" rot="5400000">
              <a:off x="92074" y="-92074"/>
              <a:ext cx="476252" cy="660400"/>
            </a:xfrm>
            <a:custGeom>
              <a:avLst/>
              <a:gdLst/>
              <a:ahLst/>
              <a:cxnLst/>
              <a:rect r="r" b="b" t="t" l="l"/>
              <a:pathLst>
                <a:path h="660400" w="476252">
                  <a:moveTo>
                    <a:pt x="19070" y="440148"/>
                  </a:moveTo>
                  <a:cubicBezTo>
                    <a:pt x="7556" y="406400"/>
                    <a:pt x="0" y="367799"/>
                    <a:pt x="0" y="330022"/>
                  </a:cubicBezTo>
                  <a:cubicBezTo>
                    <a:pt x="0" y="292243"/>
                    <a:pt x="6477" y="255891"/>
                    <a:pt x="17990" y="222391"/>
                  </a:cubicBezTo>
                  <a:cubicBezTo>
                    <a:pt x="18350" y="221677"/>
                    <a:pt x="18350" y="220965"/>
                    <a:pt x="18710" y="220252"/>
                  </a:cubicBezTo>
                  <a:cubicBezTo>
                    <a:pt x="64765" y="94445"/>
                    <a:pt x="186379" y="1782"/>
                    <a:pt x="321027" y="0"/>
                  </a:cubicBezTo>
                  <a:lnTo>
                    <a:pt x="476252" y="0"/>
                  </a:lnTo>
                  <a:lnTo>
                    <a:pt x="476252" y="660400"/>
                  </a:lnTo>
                  <a:lnTo>
                    <a:pt x="321142" y="660400"/>
                  </a:lnTo>
                  <a:cubicBezTo>
                    <a:pt x="185660" y="658618"/>
                    <a:pt x="64045" y="567381"/>
                    <a:pt x="19070" y="440148"/>
                  </a:cubicBezTo>
                  <a:close/>
                </a:path>
              </a:pathLst>
            </a:custGeom>
            <a:blipFill>
              <a:blip r:embed="rId4"/>
              <a:stretch>
                <a:fillRect l="-36531" t="0" r="-71598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1678" y="7119019"/>
            <a:ext cx="18817070" cy="3376610"/>
          </a:xfrm>
          <a:custGeom>
            <a:avLst/>
            <a:gdLst/>
            <a:ahLst/>
            <a:cxnLst/>
            <a:rect r="r" b="b" t="t" l="l"/>
            <a:pathLst>
              <a:path h="3376610" w="18817070">
                <a:moveTo>
                  <a:pt x="0" y="0"/>
                </a:moveTo>
                <a:lnTo>
                  <a:pt x="18817070" y="0"/>
                </a:lnTo>
                <a:lnTo>
                  <a:pt x="18817070" y="3376610"/>
                </a:lnTo>
                <a:lnTo>
                  <a:pt x="0" y="33766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4951" t="0" r="-15027" b="-36094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89110" y="626954"/>
            <a:ext cx="53728" cy="5372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575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74078" lIns="74078" bIns="74078" rIns="7407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2865094" y="2100960"/>
            <a:ext cx="797229" cy="0"/>
          </a:xfrm>
          <a:prstGeom prst="line">
            <a:avLst/>
          </a:prstGeom>
          <a:ln cap="flat" w="190500">
            <a:solidFill>
              <a:srgbClr val="00208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3662323" y="2100960"/>
            <a:ext cx="797229" cy="0"/>
          </a:xfrm>
          <a:prstGeom prst="line">
            <a:avLst/>
          </a:prstGeom>
          <a:ln cap="flat" w="190500">
            <a:solidFill>
              <a:srgbClr val="43BD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32468" y="313769"/>
            <a:ext cx="8454168" cy="1299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24"/>
              </a:lnSpc>
            </a:pPr>
            <a:r>
              <a:rPr lang="en-US" sz="8965" spc="-215" b="true">
                <a:solidFill>
                  <a:srgbClr val="002085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833544" y="2790180"/>
            <a:ext cx="23940800" cy="2522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4"/>
              </a:lnSpc>
            </a:pPr>
            <a:r>
              <a:rPr lang="en-US" sz="36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Efficiency</a:t>
            </a:r>
            <a:r>
              <a:rPr lang="en-US" sz="3624" b="true">
                <a:solidFill>
                  <a:srgbClr val="00208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36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successfully delivered a highly accurate machine</a:t>
            </a:r>
          </a:p>
          <a:p>
            <a:pPr algn="ctr">
              <a:lnSpc>
                <a:spcPts val="5074"/>
              </a:lnSpc>
            </a:pPr>
            <a:r>
              <a:rPr lang="en-US" sz="36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learning model that effectively predicts heart disease, validating the use of for </a:t>
            </a:r>
          </a:p>
          <a:p>
            <a:pPr algn="ctr">
              <a:lnSpc>
                <a:spcPts val="5074"/>
              </a:lnSpc>
            </a:pPr>
            <a:r>
              <a:rPr lang="en-US" sz="36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early risk assessment.</a:t>
            </a:r>
          </a:p>
          <a:p>
            <a:pPr algn="ctr">
              <a:lnSpc>
                <a:spcPts val="507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-271678" y="4829215"/>
            <a:ext cx="18559678" cy="179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6"/>
              </a:lnSpc>
            </a:pPr>
            <a:r>
              <a:rPr lang="en-US" sz="345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Impact</a:t>
            </a:r>
            <a:r>
              <a:rPr lang="en-US" sz="34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To enhance robustness and generalizability, future work will </a:t>
            </a:r>
          </a:p>
          <a:p>
            <a:pPr algn="ctr">
              <a:lnSpc>
                <a:spcPts val="4836"/>
              </a:lnSpc>
            </a:pPr>
            <a:r>
              <a:rPr lang="en-US" sz="34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 on integrating a larger, more diverse patient</a:t>
            </a:r>
          </a:p>
          <a:p>
            <a:pPr algn="ctr">
              <a:lnSpc>
                <a:spcPts val="4836"/>
              </a:lnSpc>
              <a:spcBef>
                <a:spcPct val="0"/>
              </a:spcBef>
            </a:pPr>
            <a:r>
              <a:rPr lang="en-US" sz="345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dataset and validating the model's performance in a real-world clinical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DAG4ilyVxy8</dc:identifier>
  <dcterms:modified xsi:type="dcterms:W3CDTF">2011-08-01T06:04:30Z</dcterms:modified>
  <cp:revision>1</cp:revision>
  <dc:title>Copy of Blue and White Modern Medical Presentation</dc:title>
</cp:coreProperties>
</file>